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01aebb0d24fab" /><Relationship Type="http://schemas.openxmlformats.org/officeDocument/2006/relationships/extended-properties" Target="/docProps/app.xml" Id="R8ddcbff5df094fc2" /><Relationship Type="http://schemas.openxmlformats.org/officeDocument/2006/relationships/officeDocument" Target="/ppt/presentation.xml" Id="R536bbd3a189a47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7d821aa3d4af8"/>
  </p:sldMasterIdLst>
  <p:notesMasterIdLst>
    <p:notesMasterId xmlns:r="http://schemas.openxmlformats.org/officeDocument/2006/relationships" r:id="R3fa6f6a8edbc4674"/>
  </p:notesMasterIdLst>
  <p:sldIdLst>
    <p:sldId xmlns:r="http://schemas.openxmlformats.org/officeDocument/2006/relationships" id="256" r:id="R836821b1fd1643f9"/>
    <p:sldId xmlns:r="http://schemas.openxmlformats.org/officeDocument/2006/relationships" id="257" r:id="Rf8b966f94c774df0"/>
    <p:sldId xmlns:r="http://schemas.openxmlformats.org/officeDocument/2006/relationships" id="258" r:id="R9d2505fdabab4fe5"/>
    <p:sldId xmlns:r="http://schemas.openxmlformats.org/officeDocument/2006/relationships" id="259" r:id="R454b93bf7b5848fd"/>
    <p:sldId xmlns:r="http://schemas.openxmlformats.org/officeDocument/2006/relationships" id="260" r:id="R440fb335048d4b28"/>
    <p:sldId xmlns:r="http://schemas.openxmlformats.org/officeDocument/2006/relationships" id="261" r:id="R371e32a3ddd54388"/>
    <p:sldId xmlns:r="http://schemas.openxmlformats.org/officeDocument/2006/relationships" id="262" r:id="Ra7de828b64534553"/>
    <p:sldId xmlns:r="http://schemas.openxmlformats.org/officeDocument/2006/relationships" id="263" r:id="R0d9a18f0c5594e6e"/>
    <p:sldId xmlns:r="http://schemas.openxmlformats.org/officeDocument/2006/relationships" id="264" r:id="R73f115591e5c42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056783b17f42a2" /><Relationship Type="http://schemas.openxmlformats.org/officeDocument/2006/relationships/slideMaster" Target="/ppt/slideMasters/slideMaster1.xml" Id="R6697d821aa3d4af8" /><Relationship Type="http://schemas.openxmlformats.org/officeDocument/2006/relationships/notesMaster" Target="/ppt/notesMasters/notesMaster1.xml" Id="R3fa6f6a8edbc4674" /><Relationship Type="http://schemas.openxmlformats.org/officeDocument/2006/relationships/presProps" Target="/ppt/presProps.xml" Id="R5dc8112a7b854c60" /><Relationship Type="http://schemas.openxmlformats.org/officeDocument/2006/relationships/tableStyles" Target="/ppt/tableStyles.xml" Id="Re070824a2c0e4be7" /><Relationship Type="http://schemas.openxmlformats.org/officeDocument/2006/relationships/slide" Target="/ppt/slides/slide1.xml" Id="R836821b1fd1643f9" /><Relationship Type="http://schemas.openxmlformats.org/officeDocument/2006/relationships/slide" Target="/ppt/slides/slide2.xml" Id="Rf8b966f94c774df0" /><Relationship Type="http://schemas.openxmlformats.org/officeDocument/2006/relationships/slide" Target="/ppt/slides/slide3.xml" Id="R9d2505fdabab4fe5" /><Relationship Type="http://schemas.openxmlformats.org/officeDocument/2006/relationships/slide" Target="/ppt/slides/slide4.xml" Id="R454b93bf7b5848fd" /><Relationship Type="http://schemas.openxmlformats.org/officeDocument/2006/relationships/slide" Target="/ppt/slides/slide5.xml" Id="R440fb335048d4b28" /><Relationship Type="http://schemas.openxmlformats.org/officeDocument/2006/relationships/slide" Target="/ppt/slides/slide6.xml" Id="R371e32a3ddd54388" /><Relationship Type="http://schemas.openxmlformats.org/officeDocument/2006/relationships/slide" Target="/ppt/slides/slide7.xml" Id="Ra7de828b64534553" /><Relationship Type="http://schemas.openxmlformats.org/officeDocument/2006/relationships/slide" Target="/ppt/slides/slide8.xml" Id="R0d9a18f0c5594e6e" /><Relationship Type="http://schemas.openxmlformats.org/officeDocument/2006/relationships/slide" Target="/ppt/slides/slide9.xml" Id="R73f115591e5c42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e37316c1342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766ab4bac44834" /><Relationship Type="http://schemas.openxmlformats.org/officeDocument/2006/relationships/notesMaster" Target="/ppt/notesMasters/notesMaster1.xml" Id="Re42eaa750898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d924741efb4a1e" /><Relationship Type="http://schemas.openxmlformats.org/officeDocument/2006/relationships/notesMaster" Target="/ppt/notesMasters/notesMaster1.xml" Id="R97f137708189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966a237817493e" /><Relationship Type="http://schemas.openxmlformats.org/officeDocument/2006/relationships/notesMaster" Target="/ppt/notesMasters/notesMaster1.xml" Id="R9b8a1a129ba3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2b43764f3c4b8b" /><Relationship Type="http://schemas.openxmlformats.org/officeDocument/2006/relationships/notesMaster" Target="/ppt/notesMasters/notesMaster1.xml" Id="R92e177e228d946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5a1de8c4f64697" /><Relationship Type="http://schemas.openxmlformats.org/officeDocument/2006/relationships/notesMaster" Target="/ppt/notesMasters/notesMaster1.xml" Id="Rec454dcc0eef47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5fd76a844c477b" /><Relationship Type="http://schemas.openxmlformats.org/officeDocument/2006/relationships/notesMaster" Target="/ppt/notesMasters/notesMaster1.xml" Id="Rc75857d2b9fb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e2c754b3e4e20" /><Relationship Type="http://schemas.openxmlformats.org/officeDocument/2006/relationships/notesMaster" Target="/ppt/notesMasters/notesMaster1.xml" Id="R62722149d54d41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7aee0778d64c4e" /><Relationship Type="http://schemas.openxmlformats.org/officeDocument/2006/relationships/notesMaster" Target="/ppt/notesMasters/notesMaster1.xml" Id="R74622cb22cf84d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3d902eabdb42e0" /><Relationship Type="http://schemas.openxmlformats.org/officeDocument/2006/relationships/notesMaster" Target="/ppt/notesMasters/notesMaster1.xml" Id="R623cbd842858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5b7a94a0c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c76f66e7643c1" /><Relationship Type="http://schemas.openxmlformats.org/officeDocument/2006/relationships/slideLayout" Target="/ppt/slideLayouts/slideLayout1.xml" Id="R9fba419a411d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a419a411d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786237eab4fca" /><Relationship Type="http://schemas.openxmlformats.org/officeDocument/2006/relationships/notesSlide" Target="/ppt/notesSlides/notesSlide1.xml" Id="R673b8840894d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457ecc8444740" /><Relationship Type="http://schemas.openxmlformats.org/officeDocument/2006/relationships/notesSlide" Target="/ppt/notesSlides/notesSlide2.xml" Id="Rbbc8dd15abb44b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555133bf4e9c" /><Relationship Type="http://schemas.openxmlformats.org/officeDocument/2006/relationships/notesSlide" Target="/ppt/notesSlides/notesSlide3.xml" Id="Rdae8a42640c6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39224bf6a4776" /><Relationship Type="http://schemas.openxmlformats.org/officeDocument/2006/relationships/notesSlide" Target="/ppt/notesSlides/notesSlide4.xml" Id="R9d850c346b9440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73383a71a4e47" /><Relationship Type="http://schemas.openxmlformats.org/officeDocument/2006/relationships/notesSlide" Target="/ppt/notesSlides/notesSlide5.xml" Id="R50cfa39bf47a4f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ac4c395c845a4" /><Relationship Type="http://schemas.openxmlformats.org/officeDocument/2006/relationships/notesSlide" Target="/ppt/notesSlides/notesSlide6.xml" Id="R2c45c41099c745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10b51cea46a0" /><Relationship Type="http://schemas.openxmlformats.org/officeDocument/2006/relationships/notesSlide" Target="/ppt/notesSlides/notesSlide7.xml" Id="R1eef5a121f5d4d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7b4f090174086" /><Relationship Type="http://schemas.openxmlformats.org/officeDocument/2006/relationships/notesSlide" Target="/ppt/notesSlides/notesSlide8.xml" Id="Rc972b47283d149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20ac894eb4433" /><Relationship Type="http://schemas.openxmlformats.org/officeDocument/2006/relationships/notesSlide" Target="/ppt/notesSlides/notesSlide9.xml" Id="R2a828db554ff4d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kicker">
            <a:extLst xmlns:a="http://schemas.openxmlformats.org/drawingml/2006/main">
              <a:ext uri="{FF2B5EF4-FFF2-40B4-BE49-F238E27FC236}">
                <a16:creationId xmlns:a16="http://schemas.microsoft.com/office/drawing/2014/main" id="{CB44DE41-5982-42CC-9BEB-72292CAB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33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MINI MBA · УРОК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87B208-AE24-451A-A906-17A3C587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24000"/>
            <a:ext cx="9620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Стратегия как набор выборов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F184A61-F9E4-4E4F-99E2-062D0B0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6858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Фокусируем ресурсы, называем отказ и проверяем ключевую неопределённость.</a:t>
            </a:r>
          </a:p>
        </p:txBody>
      </p:sp>
      <p:sp>
        <p:nvSpPr>
          <p:cNvPr id="4" name="lesson-code">
            <a:extLst xmlns:a="http://schemas.openxmlformats.org/drawingml/2006/main">
              <a:ext uri="{FF2B5EF4-FFF2-40B4-BE49-F238E27FC236}">
                <a16:creationId xmlns:a16="http://schemas.microsoft.com/office/drawing/2014/main" id="{D0C5B089-EF67-4021-BD08-26EAF480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2171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СТАРТОВЫЙ МОДУЛЬ</a:t>
            </a:r>
          </a:p>
        </p:txBody>
      </p:sp>
    </p:spTree>
    <p:extLst>
      <p:ext uri="{BB962C8B-B14F-4D97-AF65-F5344CB8AC3E}">
        <p14:creationId xmlns:p14="http://schemas.microsoft.com/office/powerpoint/2010/main" val="1732235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416494-4093-4FA7-9BFE-50EBDAFB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 концу урока вы сможете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45D058-DA64-4AF9-9839-7195300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9E82BA-73CC-41E0-A4EE-70F60B5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1162050" y="2247900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C2E63-B795-4795-9E1C-B482918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отличить стратегию от списка целей и инициатив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93D5E3-F8B7-4AA8-B4DE-9BDC764D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81375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1162050" y="3552825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114FD3-2717-4768-B256-D161A001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43275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связать поле игры, способ победы, способности и управление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A03E2D-7868-4D2C-9A3C-2C10CDC2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66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1162050" y="4857750"/>
            <a:ext cx="10096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CBF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30E3D1-B701-4975-A437-B361DC7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876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превратить стратегическую неопределённость в измеримый тест</a:t>
            </a:r>
          </a:p>
        </p:txBody>
      </p:sp>
    </p:spTree>
    <p:extLst>
      <p:ext uri="{BB962C8B-B14F-4D97-AF65-F5344CB8AC3E}">
        <p14:creationId xmlns:p14="http://schemas.microsoft.com/office/powerpoint/2010/main" val="1243868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11525E-2DB1-4EAF-AA08-3E00D14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Стратегия становится управляемой, когда пять выборов связаны между собой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57D70B-96F8-44B6-BD32-26C95A4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2143125" y="3590925"/>
            <a:ext cx="5619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1" name="rule"/>
          <p:cNvCxnSpPr/>
          <p:nvPr/>
        </p:nvCxnSpPr>
        <p:spPr>
          <a:xfrm xmlns:a="http://schemas.openxmlformats.org/drawingml/2006/main">
            <a:off x="4457700" y="3590925"/>
            <a:ext cx="5619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2" name="rule"/>
          <p:cNvCxnSpPr/>
          <p:nvPr/>
        </p:nvCxnSpPr>
        <p:spPr>
          <a:xfrm xmlns:a="http://schemas.openxmlformats.org/drawingml/2006/main">
            <a:off x="6772275" y="3590925"/>
            <a:ext cx="5619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3" name="rule"/>
          <p:cNvCxnSpPr/>
          <p:nvPr/>
        </p:nvCxnSpPr>
        <p:spPr>
          <a:xfrm xmlns:a="http://schemas.openxmlformats.org/drawingml/2006/main">
            <a:off x="9086850" y="3590925"/>
            <a:ext cx="5619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C481D32-A252-4BC8-B723-AAE61828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1924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3A5EEF6-13A3-4B2A-884A-086CA38E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95625"/>
            <a:ext cx="158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Амбиция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17B869F-B2B8-4C50-8D42-B7F5AB7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24150"/>
            <a:ext cx="1924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7C7E6E-69A0-4939-BA94-371A55F3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95625"/>
            <a:ext cx="158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Где
играть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3A0A87B-40F3-42FB-A321-D4579370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24150"/>
            <a:ext cx="1924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8D6968-E733-418B-9267-430CDF48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95625"/>
            <a:ext cx="158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
выигрывать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F6123802-69F1-4F89-99DC-1BFF339D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1924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6C125AA-43D9-4509-B19B-63FD1E0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95625"/>
            <a:ext cx="158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Ключевые
способности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4416930C-9FBF-4BD6-B522-74D6AA78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724150"/>
            <a:ext cx="19240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3DCDEC-7EC4-4403-B846-92D418D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095625"/>
            <a:ext cx="158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Система
управления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C7EE5BF-8B9E-4CF9-9E31-0A71B1FD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Любой разрыв превращает стратегию в лозунг: выбор должен менять распределение ресурсов и поведение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1892414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EECF58-4981-4D79-8F84-36E73DCD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Длинный план перечисляет действия; стратегия объясняет, почему именно эти действия создадут преимущество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80835B-EE0B-4E85-BC7A-91A7DA19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A3D0319D-801A-4388-B0D9-E94A2BE9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55435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87EC44-4FC8-47A1-9082-44F81C6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669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ПЛАН БЕЗ ВЫБОРА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1882568-8362-4651-AF0F-D495678A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выйти в новые сегменты
2. улучшить сервис
3. запустить продукты
4. повысить эффективность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BC97A842-FFC0-41D4-9807-AAD5A2E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5435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5ADA7F-6EFA-40B6-B38F-51194E5D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СТРАТЕГИЧЕСКИЙ ВЫБОР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A2F40C-B90B-436A-9FF6-25E287EB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3370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один приоритетный сегмент
2. явный способ победы
3. критические способности
4. осознанный отказ</a:t>
            </a:r>
          </a:p>
        </p:txBody>
      </p:sp>
    </p:spTree>
    <p:extLst>
      <p:ext uri="{BB962C8B-B14F-4D97-AF65-F5344CB8AC3E}">
        <p14:creationId xmlns:p14="http://schemas.microsoft.com/office/powerpoint/2010/main" val="253661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2DF148-C375-46B1-A6A6-D532865E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Учебный кейс: два привлекательных сегмента требуют разных систем бизнеса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F5756C-90E1-4006-A4FE-24946EE3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B73C1EA2-1D33-43F9-87C4-69DED022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5543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3A24E6-2B0F-4D3A-B936-BB5C876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A. МАЛЫЙ БИЗНЕС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C8E49D-15E7-4878-80DE-8BBE1F56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5275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Самостоятельная покупка
2. Быстрый цикл продаж
3. Ниже средний чек
4. Выше предсказуемость внедрения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BE158356-16BA-4E12-97F0-4302CE91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5435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61D391-3826-473A-95F0-D756F49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B. КРУПНЫЕ КОМПАНИИ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F241F3-297B-4D57-B928-F2F266A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857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1. Продажа через L&amp;D
2. Длинный цикл сделки
3. Выше экономика контракта
4. Выше риск реализации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380169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F01848-BA45-47EC-9D3F-594596D1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Матрица делает допущения видимыми — но не отменяет управленческое суждение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BFF470-E475-4F0C-B27F-75F8F83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697EAB-AA6D-4E25-A9ED-E0288D8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Критерий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EE92955-C620-472D-B55F-2BF8844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8097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Вес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931030-1747-4023-8949-213DFFBD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097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064CD6-C962-47D1-8A4B-200F0EE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9750"/>
            <a:ext cx="95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390525" y="2209800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03C75FC-55DD-4DE5-A539-D1DFBA0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860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Привлекательность рынка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83FD810-84FE-4FE7-B284-83D5E516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860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25%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4B3102-F9AA-47D3-8648-E8126C69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736750-8497-4740-9D54-EC664AA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390525" y="2895600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9E832D-B4EA-46F4-8690-F6894F71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718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Право на победу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0A5C20E-B41F-4002-B33B-D2B31C28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71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30%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2689D8D-64F8-4360-A6C3-E029FD97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1500CA6-E970-4BA3-A4FE-0EAB7B26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718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cxnSp>
        <p:nvCxnSpPr>
          <p:cNvPr id="48" name="rule"/>
          <p:cNvCxnSpPr/>
          <p:nvPr/>
        </p:nvCxnSpPr>
        <p:spPr>
          <a:xfrm xmlns:a="http://schemas.openxmlformats.org/drawingml/2006/main">
            <a:off x="390525" y="3581400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FA8C181-A72B-4F76-AE8E-A4FD534A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57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Экономика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1FC4FF5-1641-416B-A1DC-F4F83824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576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25%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8E3789B-97EE-4F29-BBC6-D065AB4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F328587-0EE1-48DF-BE3A-C8FAEE8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576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cxnSp>
        <p:nvCxnSpPr>
          <p:cNvPr id="53" name="rule"/>
          <p:cNvCxnSpPr/>
          <p:nvPr/>
        </p:nvCxnSpPr>
        <p:spPr>
          <a:xfrm xmlns:a="http://schemas.openxmlformats.org/drawingml/2006/main">
            <a:off x="390525" y="4267200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3D207B6-8953-409E-BDF0-C11F7415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434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Риск реализации (5 = низкий)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E5D09BF-DABB-474E-9D75-9E6D763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434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20%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0E74E94-4802-4424-AAF4-25A33EC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434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5442E52-FDFB-4D38-BB3F-48260AC1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43400"/>
            <a:ext cx="95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7" name="panel">
            <a:extLst xmlns:a="http://schemas.openxmlformats.org/drawingml/2006/main">
              <a:ext uri="{FF2B5EF4-FFF2-40B4-BE49-F238E27FC236}">
                <a16:creationId xmlns:a16="http://schemas.microsoft.com/office/drawing/2014/main" id="{468134B4-4262-47B4-9268-B469DB96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5DAA044-B711-45DD-BA2D-D230D39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3714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Взвешенный итог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9004634-5521-42D5-9BC3-B6901F8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34000"/>
            <a:ext cx="95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3,45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19439EB-D2CE-45AA-91B2-4ED28EF6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34000"/>
            <a:ext cx="95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3,60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E8FBE33-79A0-469C-966E-84A37663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28875"/>
            <a:ext cx="13716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Разница 0,15 — повод проверить ключевое допущение, а не объявлять победителя.</a:t>
            </a:r>
          </a:p>
        </p:txBody>
      </p:sp>
    </p:spTree>
    <p:extLst>
      <p:ext uri="{BB962C8B-B14F-4D97-AF65-F5344CB8AC3E}">
        <p14:creationId xmlns:p14="http://schemas.microsoft.com/office/powerpoint/2010/main" val="1034221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AA5468-563E-4ABF-80D9-B3E09F81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Одностраничная стратегия должна завершаться осознанным отказом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D84490B-3433-4103-87CF-3C850F5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02386684-7732-42C1-9EBE-5CA3928A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55340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45F78B-5030-4707-90E9-B149152C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50768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Амбиция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FCA869-ABB3-4B06-BB9C-32B7AB74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50768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Какое изменение и к какому сроку?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4DA44FAE-57EC-47C4-9EFC-D3685E8B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09750"/>
            <a:ext cx="55340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54B953-18B1-491D-9E49-BC282439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81200"/>
            <a:ext cx="50768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Где играть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5000C5-F366-48D9-A82D-6DC03368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0300"/>
            <a:ext cx="50768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Какие клиенты, ситуации и каналы?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43A6CD9-BC18-4A37-B34D-E79365A3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76600"/>
            <a:ext cx="55340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223AE5-7939-4D5B-BAC5-2FB2B58A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50768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 выигрывать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0F8B9B-B0BA-4430-A7DF-ECF22C06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67150"/>
            <a:ext cx="50768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Почему выберут нас?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C37415F3-D561-4163-A7C6-67B9415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55340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87E314-9FA0-469B-8EB3-BB2E3CE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48050"/>
            <a:ext cx="50768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Способности и управление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1323341-281A-446C-A84D-44C1133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67150"/>
            <a:ext cx="50768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Что уметь, измерять и закрепить?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200999DB-FC3A-4AE6-9D56-402A3A30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14014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D7D95A-7AF9-4ADD-88BA-E467A2A8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44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Осознанный отказ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E42AFB-18D5-4A98-B82D-7FC398CF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Что мы не финансируем или прекращаем ради фокуса?</a:t>
            </a:r>
          </a:p>
        </p:txBody>
      </p:sp>
    </p:spTree>
    <p:extLst>
      <p:ext uri="{BB962C8B-B14F-4D97-AF65-F5344CB8AC3E}">
        <p14:creationId xmlns:p14="http://schemas.microsoft.com/office/powerpoint/2010/main" val="1108706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F707BF-3B2D-4E4A-B438-12B692C9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Стратегия становится реальной через тест ключевой неопределённости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82102F1-E001-4871-9349-3660478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cxnSp>
        <p:nvCxnSpPr>
          <p:cNvPr id="25" name="rule"/>
          <p:cNvCxnSpPr/>
          <p:nvPr/>
        </p:nvCxnSpPr>
        <p:spPr>
          <a:xfrm xmlns:a="http://schemas.openxmlformats.org/drawingml/2006/main">
            <a:off x="2771775" y="3590925"/>
            <a:ext cx="476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6" name="rule"/>
          <p:cNvCxnSpPr/>
          <p:nvPr/>
        </p:nvCxnSpPr>
        <p:spPr>
          <a:xfrm xmlns:a="http://schemas.openxmlformats.org/drawingml/2006/main">
            <a:off x="5629275" y="3590925"/>
            <a:ext cx="476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rule"/>
          <p:cNvCxnSpPr/>
          <p:nvPr/>
        </p:nvCxnSpPr>
        <p:spPr>
          <a:xfrm xmlns:a="http://schemas.openxmlformats.org/drawingml/2006/main">
            <a:off x="8486775" y="3590925"/>
            <a:ext cx="4762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2D416FB7-7B50-4A9F-98DA-78B42CC4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288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82722B-1EF4-4E75-93CB-0509C0F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670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629089-0F7D-4DD4-8FB1-E7B1EEBC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908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Гипотеза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259D279-B3D6-4740-957C-CCF82B0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100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Если мы …, то …, потому что …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4112DC83-8D5B-4855-9F51-4BD97F8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288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15C9838-8380-48AD-925D-CFF1E8D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670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9E1CD73-C0FA-4AFB-A0EE-BA5DD1DE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908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Тест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EFB52A-5896-4BEF-B70A-64A8D22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100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Минимальное действие, которое даст новый факт</a:t>
            </a:r>
          </a:p>
        </p:txBody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3C0E047E-8D16-48BD-A9DB-9B86884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4288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A3D4CDE-9422-4CDD-B209-385720C3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814E72B-C2BB-4220-99C5-776C173A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908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Метрики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E64B1A5-D99C-4B95-93C4-C940A89D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100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Основная метрика + то, что не должно ухудшиться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3BF454D3-FDD9-4438-90CA-5AE2B631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28875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9803B8D-A037-47FA-98C3-49058116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67000"/>
            <a:ext cx="47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F362392-9BF2-458A-B27D-148F71C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90875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Порог решения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6B1B49A-2809-40FC-A3B0-40486542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100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Масштабировать, изменить или остановить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AE0F67-41B9-4FC6-9594-6AAB749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Хороший эксперимент заранее определяет, какой результат изменит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086901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33F1CD-F3E0-4F3D-A4FD-9594AF2B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Завершите урок решением, а не резюме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09D257-A59E-4335-AC28-8898EF32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9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32258A9-A996-49AB-B072-1D8F1D3F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9550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11EBB78-361D-441E-B5A5-4CFCC03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Какой клиент и ситуация входят в наш фокус?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1381125" y="2819400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7C57812-7D4C-41AB-8985-E70DF073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86125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5DA8C7-B649-4F75-A466-D2EB0F0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48025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От чего мы сознательно отказываемся ради этого выбора?</a:t>
            </a:r>
          </a:p>
        </p:txBody>
      </p:sp>
      <p:cxnSp>
        <p:nvCxnSpPr>
          <p:cNvPr id="19" name="rule"/>
          <p:cNvCxnSpPr/>
          <p:nvPr/>
        </p:nvCxnSpPr>
        <p:spPr>
          <a:xfrm xmlns:a="http://schemas.openxmlformats.org/drawingml/2006/main">
            <a:off x="1381125" y="4010025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7C23EF-A8ED-4CF4-ADC7-5D52A97A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57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1DA1DF-4ED1-48A7-98FD-2C2B8766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3865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Какой факт за 30 дней может изменить наше решение?</a:t>
            </a:r>
          </a:p>
        </p:txBody>
      </p:sp>
      <p:cxnSp>
        <p:nvCxnSpPr>
          <p:cNvPr id="22" name="rule"/>
          <p:cNvCxnSpPr/>
          <p:nvPr/>
        </p:nvCxnSpPr>
        <p:spPr>
          <a:xfrm xmlns:a="http://schemas.openxmlformats.org/drawingml/2006/main">
            <a:off x="1381125" y="5200650"/>
            <a:ext cx="8572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88081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2026-08-01T06:16:51.5710000Z</dcterms:created>
  <dcterms:modified xsi:type="dcterms:W3CDTF">2026-08-01T06:16:51.5710000Z</dcterms:modified>
</coreProperties>
</file>