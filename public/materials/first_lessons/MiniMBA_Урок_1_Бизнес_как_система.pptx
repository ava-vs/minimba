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e704c910724af3" /><Relationship Type="http://schemas.openxmlformats.org/officeDocument/2006/relationships/extended-properties" Target="/docProps/app.xml" Id="R82641dac5ffc48b7" /><Relationship Type="http://schemas.openxmlformats.org/officeDocument/2006/relationships/officeDocument" Target="/ppt/presentation.xml" Id="R06b05fe35c6a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da73fa45854782"/>
  </p:sldMasterIdLst>
  <p:notesMasterIdLst>
    <p:notesMasterId xmlns:r="http://schemas.openxmlformats.org/officeDocument/2006/relationships" r:id="Rd3f52e7409c249df"/>
  </p:notesMasterIdLst>
  <p:sldIdLst>
    <p:sldId xmlns:r="http://schemas.openxmlformats.org/officeDocument/2006/relationships" id="256" r:id="Rb90ae357b8ba48c6"/>
    <p:sldId xmlns:r="http://schemas.openxmlformats.org/officeDocument/2006/relationships" id="257" r:id="R3c084c1423ec4ee6"/>
    <p:sldId xmlns:r="http://schemas.openxmlformats.org/officeDocument/2006/relationships" id="258" r:id="R72c346e285444fd0"/>
    <p:sldId xmlns:r="http://schemas.openxmlformats.org/officeDocument/2006/relationships" id="259" r:id="R988276a2934b4310"/>
    <p:sldId xmlns:r="http://schemas.openxmlformats.org/officeDocument/2006/relationships" id="260" r:id="R5517f74f80254523"/>
    <p:sldId xmlns:r="http://schemas.openxmlformats.org/officeDocument/2006/relationships" id="261" r:id="Rc73205f6ee8b4e65"/>
    <p:sldId xmlns:r="http://schemas.openxmlformats.org/officeDocument/2006/relationships" id="262" r:id="R392104cdb45d4d0f"/>
    <p:sldId xmlns:r="http://schemas.openxmlformats.org/officeDocument/2006/relationships" id="263" r:id="R8bf0262f5cff4f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dbed11c21b4fb4" /><Relationship Type="http://schemas.openxmlformats.org/officeDocument/2006/relationships/slideMaster" Target="/ppt/slideMasters/slideMaster1.xml" Id="Re9da73fa45854782" /><Relationship Type="http://schemas.openxmlformats.org/officeDocument/2006/relationships/notesMaster" Target="/ppt/notesMasters/notesMaster1.xml" Id="Rd3f52e7409c249df" /><Relationship Type="http://schemas.openxmlformats.org/officeDocument/2006/relationships/presProps" Target="/ppt/presProps.xml" Id="Rb01d9cc837c7403a" /><Relationship Type="http://schemas.openxmlformats.org/officeDocument/2006/relationships/tableStyles" Target="/ppt/tableStyles.xml" Id="Rc2c86060bf8d468a" /><Relationship Type="http://schemas.openxmlformats.org/officeDocument/2006/relationships/slide" Target="/ppt/slides/slide1.xml" Id="Rb90ae357b8ba48c6" /><Relationship Type="http://schemas.openxmlformats.org/officeDocument/2006/relationships/slide" Target="/ppt/slides/slide2.xml" Id="R3c084c1423ec4ee6" /><Relationship Type="http://schemas.openxmlformats.org/officeDocument/2006/relationships/slide" Target="/ppt/slides/slide3.xml" Id="R72c346e285444fd0" /><Relationship Type="http://schemas.openxmlformats.org/officeDocument/2006/relationships/slide" Target="/ppt/slides/slide4.xml" Id="R988276a2934b4310" /><Relationship Type="http://schemas.openxmlformats.org/officeDocument/2006/relationships/slide" Target="/ppt/slides/slide5.xml" Id="R5517f74f80254523" /><Relationship Type="http://schemas.openxmlformats.org/officeDocument/2006/relationships/slide" Target="/ppt/slides/slide6.xml" Id="Rc73205f6ee8b4e65" /><Relationship Type="http://schemas.openxmlformats.org/officeDocument/2006/relationships/slide" Target="/ppt/slides/slide7.xml" Id="R392104cdb45d4d0f" /><Relationship Type="http://schemas.openxmlformats.org/officeDocument/2006/relationships/slide" Target="/ppt/slides/slide8.xml" Id="R8bf0262f5cff4f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3992f7e1bc47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065d5cc3f940ea" /><Relationship Type="http://schemas.openxmlformats.org/officeDocument/2006/relationships/notesMaster" Target="/ppt/notesMasters/notesMaster1.xml" Id="R84b2275e95254f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89c1b019743c1" /><Relationship Type="http://schemas.openxmlformats.org/officeDocument/2006/relationships/notesMaster" Target="/ppt/notesMasters/notesMaster1.xml" Id="Rfa2cf2aaccf14c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594436d13547f4" /><Relationship Type="http://schemas.openxmlformats.org/officeDocument/2006/relationships/notesMaster" Target="/ppt/notesMasters/notesMaster1.xml" Id="R71fdc0cdf275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2add423b794ff5" /><Relationship Type="http://schemas.openxmlformats.org/officeDocument/2006/relationships/notesMaster" Target="/ppt/notesMasters/notesMaster1.xml" Id="R1c5a7b3c8dc4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85815417e4c6d" /><Relationship Type="http://schemas.openxmlformats.org/officeDocument/2006/relationships/notesMaster" Target="/ppt/notesMasters/notesMaster1.xml" Id="R8d437ad4b3bd40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cac3a312384dd5" /><Relationship Type="http://schemas.openxmlformats.org/officeDocument/2006/relationships/notesMaster" Target="/ppt/notesMasters/notesMaster1.xml" Id="Re72145cd6ea743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2995fea51347eb" /><Relationship Type="http://schemas.openxmlformats.org/officeDocument/2006/relationships/notesMaster" Target="/ppt/notesMasters/notesMaster1.xml" Id="Rc3ec4db2ecf04a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dbfdef99924e0c" /><Relationship Type="http://schemas.openxmlformats.org/officeDocument/2006/relationships/notesMaster" Target="/ppt/notesMasters/notesMaster1.xml" Id="R9033190d7c90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286ec2d414d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0764e6af614e8c" /><Relationship Type="http://schemas.openxmlformats.org/officeDocument/2006/relationships/slideLayout" Target="/ppt/slideLayouts/slideLayout1.xml" Id="Rc2396328b6ca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96328b6ca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656b1025a4b9c" /><Relationship Type="http://schemas.openxmlformats.org/officeDocument/2006/relationships/notesSlide" Target="/ppt/notesSlides/notesSlide1.xml" Id="R287a91808bba41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4ea6df2d2436c" /><Relationship Type="http://schemas.openxmlformats.org/officeDocument/2006/relationships/notesSlide" Target="/ppt/notesSlides/notesSlide2.xml" Id="Rdb9f9b7dff5143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fcc9a930f4d9a" /><Relationship Type="http://schemas.openxmlformats.org/officeDocument/2006/relationships/notesSlide" Target="/ppt/notesSlides/notesSlide3.xml" Id="R1963aaeda5d840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5450a15fe4cd7" /><Relationship Type="http://schemas.openxmlformats.org/officeDocument/2006/relationships/notesSlide" Target="/ppt/notesSlides/notesSlide4.xml" Id="Rf36ad776df664b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73636b7e84e66" /><Relationship Type="http://schemas.openxmlformats.org/officeDocument/2006/relationships/notesSlide" Target="/ppt/notesSlides/notesSlide5.xml" Id="Rb6be0d29fb044c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46ddfe9eb4541" /><Relationship Type="http://schemas.openxmlformats.org/officeDocument/2006/relationships/notesSlide" Target="/ppt/notesSlides/notesSlide6.xml" Id="R444fb5a34a0148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8f652cb39457c" /><Relationship Type="http://schemas.openxmlformats.org/officeDocument/2006/relationships/notesSlide" Target="/ppt/notesSlides/notesSlide7.xml" Id="R674c5cd4c36349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00088e6284bc9" /><Relationship Type="http://schemas.openxmlformats.org/officeDocument/2006/relationships/notesSlide" Target="/ppt/notesSlides/notesSlide8.xml" Id="Re99c72a00cf84e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5375B064-4673-46F0-8B44-F610160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33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MINI MBA · УРОК 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9C3FC1-3F12-4688-B692-5D8E81F2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9620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Бизнес как система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0430CC6-F7D9-430E-B710-04054BA7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6858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Связываем ценность для клиента, операционную модель и экономику.</a:t>
            </a:r>
          </a:p>
        </p:txBody>
      </p:sp>
      <p:sp>
        <p:nvSpPr>
          <p:cNvPr id="4" name="lesson-code">
            <a:extLst xmlns:a="http://schemas.openxmlformats.org/drawingml/2006/main">
              <a:ext uri="{FF2B5EF4-FFF2-40B4-BE49-F238E27FC236}">
                <a16:creationId xmlns:a16="http://schemas.microsoft.com/office/drawing/2014/main" id="{21DBC00C-CFFA-4AFE-873B-70EC71D1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217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СТАРТОВЫЙ МОДУЛЬ</a:t>
            </a:r>
          </a:p>
        </p:txBody>
      </p:sp>
    </p:spTree>
    <p:extLst>
      <p:ext uri="{BB962C8B-B14F-4D97-AF65-F5344CB8AC3E}">
        <p14:creationId xmlns:p14="http://schemas.microsoft.com/office/powerpoint/2010/main" val="1071918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AEB8A6-A459-4AA4-B24F-784A495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 концу урока вы сможете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3AF637-43F5-4075-B4BE-BD92A2D5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3B0FDA0-DC70-4837-BDD3-41679A3C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66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cxnSp>
        <p:nvCxnSpPr>
          <p:cNvPr id="15" name="rule"/>
          <p:cNvCxnSpPr/>
          <p:nvPr/>
        </p:nvCxnSpPr>
        <p:spPr>
          <a:xfrm xmlns:a="http://schemas.openxmlformats.org/drawingml/2006/main">
            <a:off x="1162050" y="2247900"/>
            <a:ext cx="10096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A4AC68-7035-4DBF-B852-86119336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876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объяснить бизнес через три взаимосвязанные линзы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1E516E4-FBCC-4A9E-A17E-C2EE2648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81375"/>
            <a:ext cx="66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1162050" y="3552825"/>
            <a:ext cx="10096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7EE3A0-BF0B-4F8A-A9C3-A1F4FDF4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43275"/>
            <a:ext cx="876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проверить управленческое решение через маржинальный доход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A4EBA1-DE81-4DFD-90EE-E3E0E99E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66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cxnSp>
        <p:nvCxnSpPr>
          <p:cNvPr id="21" name="rule"/>
          <p:cNvCxnSpPr/>
          <p:nvPr/>
        </p:nvCxnSpPr>
        <p:spPr>
          <a:xfrm xmlns:a="http://schemas.openxmlformats.org/drawingml/2006/main">
            <a:off x="1162050" y="4857750"/>
            <a:ext cx="10096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C687DD-0871-4477-AE30-6465F40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48200"/>
            <a:ext cx="876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найти самое рискованное допущение в собственной бизнес-модели</a:t>
            </a:r>
          </a:p>
        </p:txBody>
      </p:sp>
    </p:spTree>
    <p:extLst>
      <p:ext uri="{BB962C8B-B14F-4D97-AF65-F5344CB8AC3E}">
        <p14:creationId xmlns:p14="http://schemas.microsoft.com/office/powerpoint/2010/main" val="292428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CE6289-9FDF-4F47-8D6B-557B57D0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Сильная бизнес-модель выдерживает проверку тремя линзами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D79750-F1DA-4524-B4DA-CA4653AB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" name="lens-0">
            <a:extLst xmlns:a="http://schemas.openxmlformats.org/drawingml/2006/main">
              <a:ext uri="{FF2B5EF4-FFF2-40B4-BE49-F238E27FC236}">
                <a16:creationId xmlns:a16="http://schemas.microsoft.com/office/drawing/2014/main" id="{4000B241-5C11-4C9D-B37E-DEA9BCE7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35623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C45ABAF-DF84-4AF8-9C9D-090305F1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86000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7E565A-DBF6-4772-9CEC-F97422FC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57500"/>
            <a:ext cx="295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Клиент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3E8501-3B58-4079-9CA8-E9FCBAA3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2952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За какую работу клиент выбирает нас?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E6B1BA-A39B-4700-8652-4C860900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0535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Сигнал: растут скидки, жалобы или отток.</a:t>
            </a:r>
          </a:p>
        </p:txBody>
      </p:sp>
      <p:sp>
        <p:nvSpPr>
          <p:cNvPr id="8" name="lens-1">
            <a:extLst xmlns:a="http://schemas.openxmlformats.org/drawingml/2006/main">
              <a:ext uri="{FF2B5EF4-FFF2-40B4-BE49-F238E27FC236}">
                <a16:creationId xmlns:a16="http://schemas.microsoft.com/office/drawing/2014/main" id="{BF478D22-9960-42E4-9D9B-3C32D2E0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623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5640A45-3459-4221-A6D4-3CF6C9C0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931EA9-6432-4C79-B232-7B24EE8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95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Операции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936739-AC79-4327-A67D-A662441B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952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Что должно происходить стабильно?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CDACCA8-1FFA-473E-BA56-AED66D46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Сигнал: качество держится на ручном героизме.</a:t>
            </a:r>
          </a:p>
        </p:txBody>
      </p:sp>
      <p:sp>
        <p:nvSpPr>
          <p:cNvPr id="13" name="lens-2">
            <a:extLst xmlns:a="http://schemas.openxmlformats.org/drawingml/2006/main">
              <a:ext uri="{FF2B5EF4-FFF2-40B4-BE49-F238E27FC236}">
                <a16:creationId xmlns:a16="http://schemas.microsoft.com/office/drawing/2014/main" id="{8A56B31A-0F74-4C9E-93D3-DE5E023D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5623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FFCABD8-963D-45F0-A7E8-EBE37206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4601B38-5A2F-4F66-83C3-2318F21D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95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Экономика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96D5E3-283E-4D59-873D-CCF221D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2952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Где возникает маржинальный доход?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EC2A889-910E-4DE6-9FAF-93F736A2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0535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Сигнал: выручка растёт, а денег больше не становится.</a:t>
            </a:r>
          </a:p>
        </p:txBody>
      </p:sp>
    </p:spTree>
    <p:extLst>
      <p:ext uri="{BB962C8B-B14F-4D97-AF65-F5344CB8AC3E}">
        <p14:creationId xmlns:p14="http://schemas.microsoft.com/office/powerpoint/2010/main" val="1444681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CE81CB-08AC-4E34-BE16-2BE7CA8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Бизнес — это причинная цепочка, а не набор независимых блоков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DA4052-0FFE-4F88-AEA2-F437381C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2105025" y="3581400"/>
            <a:ext cx="6000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1" name="rule"/>
          <p:cNvCxnSpPr/>
          <p:nvPr/>
        </p:nvCxnSpPr>
        <p:spPr>
          <a:xfrm xmlns:a="http://schemas.openxmlformats.org/drawingml/2006/main">
            <a:off x="4419600" y="3581400"/>
            <a:ext cx="6000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2" name="rule"/>
          <p:cNvCxnSpPr/>
          <p:nvPr/>
        </p:nvCxnSpPr>
        <p:spPr>
          <a:xfrm xmlns:a="http://schemas.openxmlformats.org/drawingml/2006/main">
            <a:off x="6734175" y="3581400"/>
            <a:ext cx="6000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3" name="rule"/>
          <p:cNvCxnSpPr/>
          <p:nvPr/>
        </p:nvCxnSpPr>
        <p:spPr>
          <a:xfrm xmlns:a="http://schemas.openxmlformats.org/drawingml/2006/main">
            <a:off x="9048750" y="3581400"/>
            <a:ext cx="6000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flow-0">
            <a:extLst xmlns:a="http://schemas.openxmlformats.org/drawingml/2006/main">
              <a:ext uri="{FF2B5EF4-FFF2-40B4-BE49-F238E27FC236}">
                <a16:creationId xmlns:a16="http://schemas.microsoft.com/office/drawing/2014/main" id="{2CACE7AB-92A7-488A-88DA-A46254A4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4150"/>
            <a:ext cx="1924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C68C20-8732-493B-8BE0-1E8E8ADA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67050"/>
            <a:ext cx="1581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Клиент
и ситуация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368E344F-896B-4140-AE63-04CA00C4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24150"/>
            <a:ext cx="1924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F4DF90-FF31-4E36-834A-EBB5D382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1581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Проблема
или работа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96613451-54D5-450E-A7AF-8A9BCEEE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24150"/>
            <a:ext cx="1924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70B1185-3CBE-42E5-B498-331E49BD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67050"/>
            <a:ext cx="1581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Ценностное
предложение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3E95047A-4753-4ECD-88BB-084FBBD4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1924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FFAC904-D69D-4D78-89A6-E8630E60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1581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Доставка
ценности</a:t>
            </a:r>
          </a:p>
        </p:txBody>
      </p:sp>
      <p:sp>
        <p:nvSpPr>
          <p:cNvPr id="15" name="flow-4">
            <a:extLst xmlns:a="http://schemas.openxmlformats.org/drawingml/2006/main">
              <a:ext uri="{FF2B5EF4-FFF2-40B4-BE49-F238E27FC236}">
                <a16:creationId xmlns:a16="http://schemas.microsoft.com/office/drawing/2014/main" id="{31CC2F8E-8293-4968-8371-9296F39E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724150"/>
            <a:ext cx="1924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7579B16-FC2C-4908-8582-7456F5CE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067050"/>
            <a:ext cx="1581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Экономика
модели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EE63C3E-72E0-4F9A-86D6-46CC288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29200"/>
            <a:ext cx="7620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Если один переход держится только на допущении, именно его нужно проверять первым.</a:t>
            </a:r>
          </a:p>
        </p:txBody>
      </p:sp>
    </p:spTree>
    <p:extLst>
      <p:ext uri="{BB962C8B-B14F-4D97-AF65-F5344CB8AC3E}">
        <p14:creationId xmlns:p14="http://schemas.microsoft.com/office/powerpoint/2010/main" val="1118426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5311B4-F940-4DC8-83B6-B9CFB73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Учебный кейс: скидка может улучшить прибыль — но только при достаточном объёме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401604-2E0B-44B9-9A9F-E288109B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3" name="case-data">
            <a:extLst xmlns:a="http://schemas.openxmlformats.org/drawingml/2006/main">
              <a:ext uri="{FF2B5EF4-FFF2-40B4-BE49-F238E27FC236}">
                <a16:creationId xmlns:a16="http://schemas.microsoft.com/office/drawing/2014/main" id="{963D829D-C404-48F0-B0DF-64BCBD1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62125"/>
            <a:ext cx="5048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6BBA25-48C2-4528-B36D-FF72977E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КОФЕЙНЯ У БИЗНЕС-ЦЕНТРА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8EBC68-2FB6-403E-9DDC-B5A5C0AF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09850"/>
            <a:ext cx="400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1 800 000 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DD8D48-93DF-4893-AAB1-BCD1D6A2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месячная выручка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E29D47-F042-41C9-8989-A3CBF864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86200"/>
            <a:ext cx="1809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45%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F21BCF-1728-454E-8CE3-39760AF2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00550"/>
            <a:ext cx="2095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переменные затраты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7D53CC-647B-4209-BCA4-19767283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86200"/>
            <a:ext cx="2190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780 000 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1B0F74-DEE5-4999-BF4D-C7E87546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2190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постоянные затраты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A285EAF-9A03-4B41-8CA7-ADBFB85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48250"/>
            <a:ext cx="4286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Предложение: цена −10%, количество чеков +15%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1ABEEE-D22A-45E5-9FF0-C0F7C45D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Вопрос группе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81D4F6-FA59-45B8-B0F0-B8DD1CDD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1435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1. Как изменится выручка?
2. Как изменится операционная прибыль?
3. Какой рост чеков нужен, чтобы сохранить текущую прибыль?
4. Что ещё нужно проверить до запуска?</a:t>
            </a:r>
          </a:p>
        </p:txBody>
      </p:sp>
    </p:spTree>
    <p:extLst>
      <p:ext uri="{BB962C8B-B14F-4D97-AF65-F5344CB8AC3E}">
        <p14:creationId xmlns:p14="http://schemas.microsoft.com/office/powerpoint/2010/main" val="964312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9CC144-3F96-4775-9591-665E892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Расчёт показывает: ключевой порог — рост чеков не менее 22,2%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F738F16-FCFD-4FA0-8C5F-7609C50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915AAA91-A3C3-47B6-BBB0-A5C4FCC3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AC1992-45C4-4C2C-8AE1-D1066357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71750"/>
            <a:ext cx="3028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210 000 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3CDC28-A05F-4310-AB2C-E371EDD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86125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текущая прибыль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6F39D73-4FB7-485D-BCA4-ACC02035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00500"/>
            <a:ext cx="3028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1 800 000 − 810 000 − 780 000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3A71EBE-620B-4BFE-81F4-884D559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0C154F-C604-4F2C-8139-80177C3E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028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151 500 ₽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E8F37A-DE70-4BA1-91CF-32AD0181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прибыль после скидки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93EF38-387F-4023-A93B-E5E9743F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28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1 863 000 − 931 500 − 780 000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952AD98-F988-4FE7-A3C5-FCBC075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57E01F9-7A2B-46DE-A46C-648231AF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3028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−58 500 ₽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E92ABB-1C69-4BF2-90BC-CAB6D711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86125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изменение прибыли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25A917C-B3AA-4293-8378-14B1461C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3028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при росте чеков на 15%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67A0E03-63E2-4F7D-80A6-D951E409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29250"/>
            <a:ext cx="9810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Управленческий вывод: рост чеков должен превысить 22,2%, потому что затраты на единицу не падают вместе с ценой.</a:t>
            </a:r>
          </a:p>
        </p:txBody>
      </p:sp>
    </p:spTree>
    <p:extLst>
      <p:ext uri="{BB962C8B-B14F-4D97-AF65-F5344CB8AC3E}">
        <p14:creationId xmlns:p14="http://schemas.microsoft.com/office/powerpoint/2010/main" val="518420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36EF00-A036-446B-B5E7-9F17081F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Перенесите модель на свой бизнес за три шага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4FF86D3-3C2D-4BCC-99A3-92FB8F7E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2C1BE803-ED33-4EC9-B530-3C82542A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288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6185C4D-FE6A-4068-A5D1-C2448428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336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8992CB-9E50-402F-8B05-3236920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43200"/>
            <a:ext cx="3028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Соберите цепочку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DB00E0C-4AF8-498A-9044-03FFE13D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14750"/>
            <a:ext cx="30289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Заполните пять блоков: клиент, работа, ценность, доставка, экономика.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AE76DE6-BD63-481C-B4A4-3E2279AC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288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725AF1-4197-4678-8703-BA575375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DFBA57-2439-49C0-B34F-FE53BA6C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3028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Найдите разрыв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1C072F-3927-4D32-B884-E02B26EB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289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Отметьте переход, который держится на самом слабом допущении.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9C85DA5-E037-451C-84B5-7441ABCD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45FC9D-7FC1-4A84-ACF3-44AFD0E7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C740A9-72B9-4EC5-ACA3-209A35E9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3028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Сформулируйте тест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3E42756-35C2-4A9A-A0AC-8E70E01C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14750"/>
            <a:ext cx="30289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Назовите факт, который можно получить в течение 30 дней.</a:t>
            </a:r>
          </a:p>
        </p:txBody>
      </p:sp>
    </p:spTree>
    <p:extLst>
      <p:ext uri="{BB962C8B-B14F-4D97-AF65-F5344CB8AC3E}">
        <p14:creationId xmlns:p14="http://schemas.microsoft.com/office/powerpoint/2010/main" val="544692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C46FB6-10F0-4468-9A6B-B53EEF2E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Завершите урок тремя честными ответами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1AB74B-36DD-486D-93C3-02AE1D4F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947E7C1-2F5C-4F75-ACC3-2C9A2B81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5627F7-CCFA-4E47-900D-0B2E9DB6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574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Где мы создаём наибольшую ценность для клиента?</a:t>
            </a:r>
          </a:p>
        </p:txBody>
      </p:sp>
      <p:cxnSp>
        <p:nvCxnSpPr>
          <p:cNvPr id="16" name="rule"/>
          <p:cNvCxnSpPr/>
          <p:nvPr/>
        </p:nvCxnSpPr>
        <p:spPr>
          <a:xfrm xmlns:a="http://schemas.openxmlformats.org/drawingml/2006/main">
            <a:off x="1381125" y="2819400"/>
            <a:ext cx="8572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B777DC-6279-441B-8FAB-83F3B0B3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86125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AC95154-286C-4D6F-9909-3099CA39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48025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Какое операционное ограничение сильнее всего влияет на деньги?</a:t>
            </a:r>
          </a:p>
        </p:txBody>
      </p:sp>
      <p:cxnSp>
        <p:nvCxnSpPr>
          <p:cNvPr id="19" name="rule"/>
          <p:cNvCxnSpPr/>
          <p:nvPr/>
        </p:nvCxnSpPr>
        <p:spPr>
          <a:xfrm xmlns:a="http://schemas.openxmlformats.org/drawingml/2006/main">
            <a:off x="1381125" y="4010025"/>
            <a:ext cx="8572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444811-50E6-4AF7-B43A-2DA84CE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A7B6591-F9FE-48CE-9F38-2CFF0DCF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3865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Какое допущение я проверю до следующего занятия?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1381125" y="5200650"/>
            <a:ext cx="8572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590311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2026-08-01T06:16:48.1750000Z</dcterms:created>
  <dcterms:modified xsi:type="dcterms:W3CDTF">2026-08-01T06:16:48.1750000Z</dcterms:modified>
</coreProperties>
</file>